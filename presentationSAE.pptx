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59" r:id="rId6"/>
    <p:sldId id="263" r:id="rId7"/>
    <p:sldId id="260" r:id="rId8"/>
    <p:sldId id="261" r:id="rId9"/>
    <p:sldId id="262" r:id="rId10"/>
    <p:sldId id="266" r:id="rId11"/>
    <p:sldId id="267" r:id="rId12"/>
    <p:sldId id="269" r:id="rId13"/>
    <p:sldId id="268" r:id="rId14"/>
    <p:sldId id="270" r:id="rId15"/>
    <p:sldId id="271" r:id="rId16"/>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7" d="100"/>
          <a:sy n="77" d="100"/>
        </p:scale>
        <p:origin x="268"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loe SAGNET" userId="ef88433c-aedb-415e-8bc6-607a8ca574ab" providerId="ADAL" clId="{9E58F356-3A79-4F01-883F-C8ACF68592E4}"/>
    <pc:docChg chg="modSld">
      <pc:chgData name="Chloe SAGNET" userId="ef88433c-aedb-415e-8bc6-607a8ca574ab" providerId="ADAL" clId="{9E58F356-3A79-4F01-883F-C8ACF68592E4}" dt="2026-09-08T08:32:42.208" v="8" actId="20577"/>
      <pc:docMkLst>
        <pc:docMk/>
      </pc:docMkLst>
      <pc:sldChg chg="modSp mod">
        <pc:chgData name="Chloe SAGNET" userId="ef88433c-aedb-415e-8bc6-607a8ca574ab" providerId="ADAL" clId="{9E58F356-3A79-4F01-883F-C8ACF68592E4}" dt="2026-09-08T08:14:26.106" v="4" actId="20577"/>
        <pc:sldMkLst>
          <pc:docMk/>
          <pc:sldMk cId="2991450287" sldId="256"/>
        </pc:sldMkLst>
        <pc:spChg chg="mod">
          <ac:chgData name="Chloe SAGNET" userId="ef88433c-aedb-415e-8bc6-607a8ca574ab" providerId="ADAL" clId="{9E58F356-3A79-4F01-883F-C8ACF68592E4}" dt="2026-09-08T08:14:26.106" v="4" actId="20577"/>
          <ac:spMkLst>
            <pc:docMk/>
            <pc:sldMk cId="2991450287" sldId="256"/>
            <ac:spMk id="2" creationId="{7DD43AEC-7D53-045E-02CE-FCE290595701}"/>
          </ac:spMkLst>
        </pc:spChg>
      </pc:sldChg>
      <pc:sldChg chg="modSp mod">
        <pc:chgData name="Chloe SAGNET" userId="ef88433c-aedb-415e-8bc6-607a8ca574ab" providerId="ADAL" clId="{9E58F356-3A79-4F01-883F-C8ACF68592E4}" dt="2026-09-08T08:32:42.208" v="8" actId="20577"/>
        <pc:sldMkLst>
          <pc:docMk/>
          <pc:sldMk cId="33333624" sldId="268"/>
        </pc:sldMkLst>
        <pc:spChg chg="mod">
          <ac:chgData name="Chloe SAGNET" userId="ef88433c-aedb-415e-8bc6-607a8ca574ab" providerId="ADAL" clId="{9E58F356-3A79-4F01-883F-C8ACF68592E4}" dt="2026-09-08T08:32:42.208" v="8" actId="20577"/>
          <ac:spMkLst>
            <pc:docMk/>
            <pc:sldMk cId="33333624" sldId="268"/>
            <ac:spMk id="3" creationId="{C93F4C37-D96B-36A7-A2C2-6CE34694A60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E28B3B-3282-1782-6623-2E40F79BF275}"/>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9C04987A-87E8-81F6-0D7F-5C7823D064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5D1608B-87C2-D1D2-FBCE-EB9B2A60594E}"/>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466A1B9E-7747-69C5-01E3-0E07120903D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901E575-B85D-A58E-2918-3C80932CC95B}"/>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421641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562231-D4EF-1D6E-8662-0DE902852FD6}"/>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3700AF5-C43C-3BEF-E9D6-44CAEA19569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7D1457E-DB38-8C3C-DB2C-0FF32242F98C}"/>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31FEBF3A-7335-2B53-AFE8-FCAED82ACAC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EAAD644-EF5F-D536-1772-D08940756083}"/>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15387635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07673-F333-9597-6659-74FD9F3C3F0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6080634E-E67E-7D8F-FA81-D2DA81BEC37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EF11A86-B488-320F-C3AD-B5C8396857F2}"/>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823E2985-7F67-29AD-C588-0B6E8E36EEB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FBBCDB-C135-D351-3B46-E92E0B3CA79D}"/>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3455643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1D5B5E-8BA0-94FB-91D7-D66676B7296E}"/>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6AFD7A4-9CB8-1C90-4323-2D1A010D7816}"/>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18753DB-2B74-4560-E987-3A0F094719F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D7CF846B-199E-09FC-148F-7AD76F629A3A}"/>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6870E082-B943-64CC-DEEF-55F73B8338CE}"/>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DC2F77B9-6DD4-CA1F-207A-1F7CD4EF39A2}"/>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3032434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8182C6B-0194-874E-8561-28125C0C5817}"/>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5C82E07C-6299-223F-0F75-AB706DEE5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4D1CDBA4-A5F4-416E-3007-51FDBE7DB45E}"/>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1D76C55B-2532-57D8-E354-072096526F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28A8103-A867-19DA-706C-3F3039FF415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E39E4E9-12C7-4A67-542E-79A1CC7E25CA}"/>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8" name="Espace réservé du pied de page 7">
            <a:extLst>
              <a:ext uri="{FF2B5EF4-FFF2-40B4-BE49-F238E27FC236}">
                <a16:creationId xmlns:a16="http://schemas.microsoft.com/office/drawing/2014/main" id="{59169EC7-9C3B-5FAF-5963-C145C8CBBCDF}"/>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84232FFA-C20B-3247-86E3-B9EF4E81916A}"/>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41045377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294E15-E8C0-35A7-6A76-D985ABF56F2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9D98AAC8-BD0E-3E8B-180B-B91F2793399E}"/>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4" name="Espace réservé du pied de page 3">
            <a:extLst>
              <a:ext uri="{FF2B5EF4-FFF2-40B4-BE49-F238E27FC236}">
                <a16:creationId xmlns:a16="http://schemas.microsoft.com/office/drawing/2014/main" id="{8D57AD79-A4A9-D6F7-18F4-334AF7B3062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8E51CDF6-0F33-EA65-5419-CDB99054A3AF}"/>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482900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30DF115-1847-EB2B-A9D7-D1ABEFC8DC28}"/>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3" name="Espace réservé du pied de page 2">
            <a:extLst>
              <a:ext uri="{FF2B5EF4-FFF2-40B4-BE49-F238E27FC236}">
                <a16:creationId xmlns:a16="http://schemas.microsoft.com/office/drawing/2014/main" id="{2D4DF25D-0EF3-C414-6BAF-4849007B6857}"/>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84A6B5A-6E3D-6DD9-D014-62D41262B66A}"/>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3360021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8110ED0-792D-0B5C-ECF9-4C30B0BF89A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5D28306C-502F-3290-F37E-EA0426BC73D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D0177A6C-D824-6E4C-B9A2-A722BAB1B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DA82702-35ED-97A8-2CB5-78DCAB9EA154}"/>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8170B46F-0856-A326-C6F2-1B6BA9403A41}"/>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FB22FE2-5DEC-0749-58A5-E51B6C199B07}"/>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737708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03FE46-F940-9FF5-09DD-1B2A1ECC7BFC}"/>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B16B985-DC80-D29E-8AAD-1F2726E734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85A3825-3CE9-8E6B-ED7A-F4B608F8EB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F0A70C34-8698-D569-8061-EE052E7A784E}"/>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6" name="Espace réservé du pied de page 5">
            <a:extLst>
              <a:ext uri="{FF2B5EF4-FFF2-40B4-BE49-F238E27FC236}">
                <a16:creationId xmlns:a16="http://schemas.microsoft.com/office/drawing/2014/main" id="{8977B141-426A-D18D-B7E4-1DE98E1E7C6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7B39AB1A-8AEE-3746-D9B8-79C0D762017D}"/>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2174776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7ADA150-619C-D50F-C537-BA2B73803C4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81521DDB-5D73-9589-F57E-AD94BFDA405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564C7A0-BE71-B4C3-C913-8F7A3D2BC5D5}"/>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AD8DEEBB-FB07-D6C8-F0CF-C3B12E9B931F}"/>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E866E68-26D5-6E3C-2624-2EA222989FC1}"/>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2860984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23C956FD-63D7-E765-8258-564CBF3E95A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798798A-958C-BEBB-DF9A-2D0CED0FF1FC}"/>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56E68FE-B597-E158-4E3C-05AE8C1FEB39}"/>
              </a:ext>
            </a:extLst>
          </p:cNvPr>
          <p:cNvSpPr>
            <a:spLocks noGrp="1"/>
          </p:cNvSpPr>
          <p:nvPr>
            <p:ph type="dt" sz="half" idx="10"/>
          </p:nvPr>
        </p:nvSpPr>
        <p:spPr/>
        <p:txBody>
          <a:body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B990A4AB-2C2E-E70F-86D3-DDAED8E2A6F8}"/>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9E8B7E0-1B36-EA07-C583-2703A3F2EA86}"/>
              </a:ext>
            </a:extLst>
          </p:cNvPr>
          <p:cNvSpPr>
            <a:spLocks noGrp="1"/>
          </p:cNvSpPr>
          <p:nvPr>
            <p:ph type="sldNum" sz="quarter" idx="12"/>
          </p:nvPr>
        </p:nvSpPr>
        <p:spPr/>
        <p:txBody>
          <a:bodyPr/>
          <a:lstStyle/>
          <a:p>
            <a:fld id="{88BA355B-02C2-4E72-8775-C75085C206E7}" type="slidenum">
              <a:rPr lang="fr-FR" smtClean="0"/>
              <a:t>‹N°›</a:t>
            </a:fld>
            <a:endParaRPr lang="fr-FR"/>
          </a:p>
        </p:txBody>
      </p:sp>
    </p:spTree>
    <p:extLst>
      <p:ext uri="{BB962C8B-B14F-4D97-AF65-F5344CB8AC3E}">
        <p14:creationId xmlns:p14="http://schemas.microsoft.com/office/powerpoint/2010/main" val="2809194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A54C1BB-CDB6-16F3-28EC-1EE07B9560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B1C93FC-09CD-F504-72B6-07550C7AB2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EF0EB4A-A285-7573-64BF-EBB01B08D8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1F28719-91AF-4D27-B9A6-7743D7109EC4}" type="datetimeFigureOut">
              <a:rPr lang="fr-FR" smtClean="0"/>
              <a:t>08/09/2026</a:t>
            </a:fld>
            <a:endParaRPr lang="fr-FR"/>
          </a:p>
        </p:txBody>
      </p:sp>
      <p:sp>
        <p:nvSpPr>
          <p:cNvPr id="5" name="Espace réservé du pied de page 4">
            <a:extLst>
              <a:ext uri="{FF2B5EF4-FFF2-40B4-BE49-F238E27FC236}">
                <a16:creationId xmlns:a16="http://schemas.microsoft.com/office/drawing/2014/main" id="{A4F92EF5-B2DA-CF98-D950-B120D5F322A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BDDB2D2-A950-3CF0-D902-1A644E6D22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8BA355B-02C2-4E72-8775-C75085C206E7}" type="slidenum">
              <a:rPr lang="fr-FR" smtClean="0"/>
              <a:t>‹N°›</a:t>
            </a:fld>
            <a:endParaRPr lang="fr-FR"/>
          </a:p>
        </p:txBody>
      </p:sp>
    </p:spTree>
    <p:extLst>
      <p:ext uri="{BB962C8B-B14F-4D97-AF65-F5344CB8AC3E}">
        <p14:creationId xmlns:p14="http://schemas.microsoft.com/office/powerpoint/2010/main" val="1212060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DD43AEC-7D53-045E-02CE-FCE290595701}"/>
              </a:ext>
            </a:extLst>
          </p:cNvPr>
          <p:cNvSpPr>
            <a:spLocks noGrp="1"/>
          </p:cNvSpPr>
          <p:nvPr>
            <p:ph type="ctrTitle"/>
          </p:nvPr>
        </p:nvSpPr>
        <p:spPr/>
        <p:txBody>
          <a:bodyPr>
            <a:normAutofit fontScale="90000"/>
          </a:bodyPr>
          <a:lstStyle/>
          <a:p>
            <a:r>
              <a:rPr lang="fr-FR" dirty="0"/>
              <a:t>Approche Par Compétences</a:t>
            </a:r>
            <a:br>
              <a:rPr lang="fr-FR" dirty="0"/>
            </a:br>
            <a:r>
              <a:rPr lang="fr-FR" dirty="0"/>
              <a:t>SAÉ </a:t>
            </a:r>
            <a:r>
              <a:rPr lang="fr-FR" dirty="0" err="1"/>
              <a:t>Fuzzy-Quest</a:t>
            </a:r>
            <a:br>
              <a:rPr lang="fr-FR" dirty="0"/>
            </a:br>
            <a:r>
              <a:rPr lang="fr-FR" dirty="0"/>
              <a:t>ZZ2</a:t>
            </a:r>
          </a:p>
        </p:txBody>
      </p:sp>
      <p:sp>
        <p:nvSpPr>
          <p:cNvPr id="3" name="Sous-titre 2">
            <a:extLst>
              <a:ext uri="{FF2B5EF4-FFF2-40B4-BE49-F238E27FC236}">
                <a16:creationId xmlns:a16="http://schemas.microsoft.com/office/drawing/2014/main" id="{5693CBD5-8057-2392-076D-924704702179}"/>
              </a:ext>
            </a:extLst>
          </p:cNvPr>
          <p:cNvSpPr>
            <a:spLocks noGrp="1"/>
          </p:cNvSpPr>
          <p:nvPr>
            <p:ph type="subTitle" idx="1"/>
          </p:nvPr>
        </p:nvSpPr>
        <p:spPr/>
        <p:txBody>
          <a:bodyPr/>
          <a:lstStyle/>
          <a:p>
            <a:r>
              <a:rPr lang="fr-FR" dirty="0"/>
              <a:t>09/09/26</a:t>
            </a:r>
          </a:p>
          <a:p>
            <a:r>
              <a:rPr lang="fr-FR" dirty="0"/>
              <a:t>Violaine Antoine</a:t>
            </a:r>
          </a:p>
        </p:txBody>
      </p:sp>
    </p:spTree>
    <p:extLst>
      <p:ext uri="{BB962C8B-B14F-4D97-AF65-F5344CB8AC3E}">
        <p14:creationId xmlns:p14="http://schemas.microsoft.com/office/powerpoint/2010/main" val="2991450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029AB8-7ADB-B33D-3863-D757A5A0D83B}"/>
              </a:ext>
            </a:extLst>
          </p:cNvPr>
          <p:cNvSpPr>
            <a:spLocks noGrp="1"/>
          </p:cNvSpPr>
          <p:nvPr>
            <p:ph type="title"/>
          </p:nvPr>
        </p:nvSpPr>
        <p:spPr/>
        <p:txBody>
          <a:bodyPr/>
          <a:lstStyle/>
          <a:p>
            <a:r>
              <a:rPr lang="fr-FR" dirty="0"/>
              <a:t>Selon vous, quelle est la caractéristique d’une personne compétente ?</a:t>
            </a:r>
          </a:p>
        </p:txBody>
      </p:sp>
    </p:spTree>
    <p:extLst>
      <p:ext uri="{BB962C8B-B14F-4D97-AF65-F5344CB8AC3E}">
        <p14:creationId xmlns:p14="http://schemas.microsoft.com/office/powerpoint/2010/main" val="4241161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12F398-998E-C954-6FBD-C72482F07EC3}"/>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53E698A-92A0-039D-822E-B25E435F7CF1}"/>
              </a:ext>
            </a:extLst>
          </p:cNvPr>
          <p:cNvSpPr>
            <a:spLocks noGrp="1"/>
          </p:cNvSpPr>
          <p:nvPr>
            <p:ph idx="1"/>
          </p:nvPr>
        </p:nvSpPr>
        <p:spPr/>
        <p:txBody>
          <a:bodyPr/>
          <a:lstStyle/>
          <a:p>
            <a:endParaRPr lang="fr-FR"/>
          </a:p>
        </p:txBody>
      </p:sp>
      <p:pic>
        <p:nvPicPr>
          <p:cNvPr id="4" name="Picture 2">
            <a:extLst>
              <a:ext uri="{FF2B5EF4-FFF2-40B4-BE49-F238E27FC236}">
                <a16:creationId xmlns:a16="http://schemas.microsoft.com/office/drawing/2014/main" id="{478871EC-493F-5E4D-9BAB-0C38567EAD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0"/>
            <a:ext cx="12019046" cy="68032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71EF4F6E-29D1-10FA-52CF-54C8E2562F35}"/>
              </a:ext>
            </a:extLst>
          </p:cNvPr>
          <p:cNvSpPr/>
          <p:nvPr/>
        </p:nvSpPr>
        <p:spPr>
          <a:xfrm>
            <a:off x="563797" y="739620"/>
            <a:ext cx="11227150" cy="72021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Tree>
    <p:extLst>
      <p:ext uri="{BB962C8B-B14F-4D97-AF65-F5344CB8AC3E}">
        <p14:creationId xmlns:p14="http://schemas.microsoft.com/office/powerpoint/2010/main" val="4995847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838A94-E5E9-AE1C-334E-452B1B297E4B}"/>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39D58C6F-B04E-7E6D-D5DB-DBCCD572FA79}"/>
              </a:ext>
            </a:extLst>
          </p:cNvPr>
          <p:cNvSpPr>
            <a:spLocks noGrp="1"/>
          </p:cNvSpPr>
          <p:nvPr>
            <p:ph idx="1"/>
          </p:nvPr>
        </p:nvSpPr>
        <p:spPr/>
        <p:txBody>
          <a:bodyPr/>
          <a:lstStyle/>
          <a:p>
            <a:endParaRPr lang="fr-FR"/>
          </a:p>
        </p:txBody>
      </p:sp>
      <p:pic>
        <p:nvPicPr>
          <p:cNvPr id="4" name="Picture 2">
            <a:extLst>
              <a:ext uri="{FF2B5EF4-FFF2-40B4-BE49-F238E27FC236}">
                <a16:creationId xmlns:a16="http://schemas.microsoft.com/office/drawing/2014/main" id="{9DAABC01-5313-5588-EB15-C94DB9AA88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 y="-1"/>
            <a:ext cx="12172950" cy="687473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A9929118-21FA-7D48-C4D6-7F48A240AE95}"/>
              </a:ext>
            </a:extLst>
          </p:cNvPr>
          <p:cNvSpPr/>
          <p:nvPr/>
        </p:nvSpPr>
        <p:spPr>
          <a:xfrm>
            <a:off x="179511" y="1059582"/>
            <a:ext cx="3368573" cy="167030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fr-F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fr-FR"/>
          </a:p>
        </p:txBody>
      </p:sp>
      <p:sp>
        <p:nvSpPr>
          <p:cNvPr id="11" name="Rectangle 10">
            <a:extLst>
              <a:ext uri="{FF2B5EF4-FFF2-40B4-BE49-F238E27FC236}">
                <a16:creationId xmlns:a16="http://schemas.microsoft.com/office/drawing/2014/main" id="{ADFA77A9-BAC8-8ED5-D190-1E41257B906E}"/>
              </a:ext>
            </a:extLst>
          </p:cNvPr>
          <p:cNvSpPr/>
          <p:nvPr/>
        </p:nvSpPr>
        <p:spPr>
          <a:xfrm>
            <a:off x="1611832" y="617982"/>
            <a:ext cx="9346730" cy="4151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898F1DBA-A3E9-6078-43C5-0B0D138DD0C3}"/>
              </a:ext>
            </a:extLst>
          </p:cNvPr>
          <p:cNvSpPr/>
          <p:nvPr/>
        </p:nvSpPr>
        <p:spPr>
          <a:xfrm>
            <a:off x="246157" y="1297513"/>
            <a:ext cx="3482323" cy="126502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Rectangle 12">
            <a:extLst>
              <a:ext uri="{FF2B5EF4-FFF2-40B4-BE49-F238E27FC236}">
                <a16:creationId xmlns:a16="http://schemas.microsoft.com/office/drawing/2014/main" id="{6B506D23-2728-4182-3690-CDCF0254795E}"/>
              </a:ext>
            </a:extLst>
          </p:cNvPr>
          <p:cNvSpPr/>
          <p:nvPr/>
        </p:nvSpPr>
        <p:spPr>
          <a:xfrm>
            <a:off x="8557856" y="4549804"/>
            <a:ext cx="3482320" cy="135624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D9BCD48B-4146-1D2E-F381-2F8736ED3B80}"/>
              </a:ext>
            </a:extLst>
          </p:cNvPr>
          <p:cNvSpPr/>
          <p:nvPr/>
        </p:nvSpPr>
        <p:spPr>
          <a:xfrm>
            <a:off x="8586926" y="1122240"/>
            <a:ext cx="3448706" cy="161557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40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3C2FA57C-E3FE-469E-8782-D5973C68B906}"/>
              </a:ext>
            </a:extLst>
          </p:cNvPr>
          <p:cNvSpPr/>
          <p:nvPr/>
        </p:nvSpPr>
        <p:spPr>
          <a:xfrm>
            <a:off x="3900889" y="2141872"/>
            <a:ext cx="4427571" cy="2292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Rectangle 16">
            <a:extLst>
              <a:ext uri="{FF2B5EF4-FFF2-40B4-BE49-F238E27FC236}">
                <a16:creationId xmlns:a16="http://schemas.microsoft.com/office/drawing/2014/main" id="{44E5DF56-F70E-02A5-0779-A8E65345EA0A}"/>
              </a:ext>
            </a:extLst>
          </p:cNvPr>
          <p:cNvSpPr/>
          <p:nvPr/>
        </p:nvSpPr>
        <p:spPr>
          <a:xfrm>
            <a:off x="3909336" y="5751208"/>
            <a:ext cx="4427571" cy="30967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8" name="Rectangle 17">
            <a:extLst>
              <a:ext uri="{FF2B5EF4-FFF2-40B4-BE49-F238E27FC236}">
                <a16:creationId xmlns:a16="http://schemas.microsoft.com/office/drawing/2014/main" id="{6465C3CA-C026-34C3-4D3A-5A5109925FA0}"/>
              </a:ext>
            </a:extLst>
          </p:cNvPr>
          <p:cNvSpPr/>
          <p:nvPr/>
        </p:nvSpPr>
        <p:spPr>
          <a:xfrm>
            <a:off x="214073" y="4874912"/>
            <a:ext cx="3387988" cy="143698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19" name="Rectangle 18">
            <a:extLst>
              <a:ext uri="{FF2B5EF4-FFF2-40B4-BE49-F238E27FC236}">
                <a16:creationId xmlns:a16="http://schemas.microsoft.com/office/drawing/2014/main" id="{60C4CEA0-6B47-27E2-6922-628BDFBC7415}"/>
              </a:ext>
            </a:extLst>
          </p:cNvPr>
          <p:cNvSpPr/>
          <p:nvPr/>
        </p:nvSpPr>
        <p:spPr>
          <a:xfrm>
            <a:off x="5085347" y="3207344"/>
            <a:ext cx="2037348" cy="95894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p>
        </p:txBody>
      </p:sp>
      <p:sp>
        <p:nvSpPr>
          <p:cNvPr id="20" name="Rectangle 19">
            <a:extLst>
              <a:ext uri="{FF2B5EF4-FFF2-40B4-BE49-F238E27FC236}">
                <a16:creationId xmlns:a16="http://schemas.microsoft.com/office/drawing/2014/main" id="{5CCA3511-1FF8-0085-933F-14ECE74EE76E}"/>
              </a:ext>
            </a:extLst>
          </p:cNvPr>
          <p:cNvSpPr/>
          <p:nvPr/>
        </p:nvSpPr>
        <p:spPr>
          <a:xfrm>
            <a:off x="4130286" y="2530464"/>
            <a:ext cx="3987020" cy="22922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542553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BF1C4F6-F69B-5316-2EC2-D0AEE5EB52FA}"/>
              </a:ext>
            </a:extLst>
          </p:cNvPr>
          <p:cNvSpPr>
            <a:spLocks noGrp="1"/>
          </p:cNvSpPr>
          <p:nvPr>
            <p:ph type="title"/>
          </p:nvPr>
        </p:nvSpPr>
        <p:spPr/>
        <p:txBody>
          <a:bodyPr/>
          <a:lstStyle/>
          <a:p>
            <a:r>
              <a:rPr lang="fr-FR" dirty="0"/>
              <a:t>Référentiel de compétences ISIMA</a:t>
            </a:r>
          </a:p>
        </p:txBody>
      </p:sp>
      <p:sp>
        <p:nvSpPr>
          <p:cNvPr id="3" name="Espace réservé du contenu 2">
            <a:extLst>
              <a:ext uri="{FF2B5EF4-FFF2-40B4-BE49-F238E27FC236}">
                <a16:creationId xmlns:a16="http://schemas.microsoft.com/office/drawing/2014/main" id="{BFF10187-0C0A-0693-0CE3-BA535DD6AF55}"/>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E907DF1F-EA81-0416-D3A5-F49B0F09075B}"/>
              </a:ext>
            </a:extLst>
          </p:cNvPr>
          <p:cNvPicPr>
            <a:picLocks noChangeAspect="1"/>
          </p:cNvPicPr>
          <p:nvPr/>
        </p:nvPicPr>
        <p:blipFill>
          <a:blip r:embed="rId2"/>
          <a:stretch>
            <a:fillRect/>
          </a:stretch>
        </p:blipFill>
        <p:spPr>
          <a:xfrm>
            <a:off x="815947" y="0"/>
            <a:ext cx="10560105" cy="6858000"/>
          </a:xfrm>
          <a:prstGeom prst="rect">
            <a:avLst/>
          </a:prstGeom>
        </p:spPr>
      </p:pic>
    </p:spTree>
    <p:extLst>
      <p:ext uri="{BB962C8B-B14F-4D97-AF65-F5344CB8AC3E}">
        <p14:creationId xmlns:p14="http://schemas.microsoft.com/office/powerpoint/2010/main" val="3538623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62C127B-F1D4-2385-8022-D5ABADCF839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ACE97841-E149-3AA0-B8C3-7A5221369E79}"/>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F3B08A35-E532-BA52-EE3E-BCC553A5A2B9}"/>
              </a:ext>
            </a:extLst>
          </p:cNvPr>
          <p:cNvPicPr>
            <a:picLocks noChangeAspect="1"/>
          </p:cNvPicPr>
          <p:nvPr/>
        </p:nvPicPr>
        <p:blipFill>
          <a:blip r:embed="rId2"/>
          <a:stretch>
            <a:fillRect/>
          </a:stretch>
        </p:blipFill>
        <p:spPr>
          <a:xfrm>
            <a:off x="1034229" y="0"/>
            <a:ext cx="10123541" cy="6681537"/>
          </a:xfrm>
          <a:prstGeom prst="rect">
            <a:avLst/>
          </a:prstGeom>
        </p:spPr>
      </p:pic>
    </p:spTree>
    <p:extLst>
      <p:ext uri="{BB962C8B-B14F-4D97-AF65-F5344CB8AC3E}">
        <p14:creationId xmlns:p14="http://schemas.microsoft.com/office/powerpoint/2010/main" val="40983787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1AC35E-3D36-ED5D-61FE-25884E1CCFD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BB5ACC36-8DB5-3C35-9B80-6CED04F44E7B}"/>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928A8498-5317-D9A7-FCEF-9ECA41CC16BC}"/>
              </a:ext>
            </a:extLst>
          </p:cNvPr>
          <p:cNvPicPr>
            <a:picLocks noChangeAspect="1"/>
          </p:cNvPicPr>
          <p:nvPr/>
        </p:nvPicPr>
        <p:blipFill>
          <a:blip r:embed="rId2"/>
          <a:stretch>
            <a:fillRect/>
          </a:stretch>
        </p:blipFill>
        <p:spPr>
          <a:xfrm>
            <a:off x="1247498" y="0"/>
            <a:ext cx="9697004" cy="6697579"/>
          </a:xfrm>
          <a:prstGeom prst="rect">
            <a:avLst/>
          </a:prstGeom>
        </p:spPr>
      </p:pic>
    </p:spTree>
    <p:extLst>
      <p:ext uri="{BB962C8B-B14F-4D97-AF65-F5344CB8AC3E}">
        <p14:creationId xmlns:p14="http://schemas.microsoft.com/office/powerpoint/2010/main" val="38435204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3204264-6D5F-76AA-017E-46988F672ADD}"/>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74E3B996-3A56-97C8-545B-B35D02FD6346}"/>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74DD579B-3DBD-8938-AF5C-4C9F0FECB3B4}"/>
              </a:ext>
            </a:extLst>
          </p:cNvPr>
          <p:cNvPicPr>
            <a:picLocks noChangeAspect="1"/>
          </p:cNvPicPr>
          <p:nvPr/>
        </p:nvPicPr>
        <p:blipFill>
          <a:blip r:embed="rId2"/>
          <a:stretch>
            <a:fillRect/>
          </a:stretch>
        </p:blipFill>
        <p:spPr>
          <a:xfrm>
            <a:off x="1375780" y="0"/>
            <a:ext cx="9440439" cy="6858000"/>
          </a:xfrm>
          <a:prstGeom prst="rect">
            <a:avLst/>
          </a:prstGeom>
        </p:spPr>
      </p:pic>
    </p:spTree>
    <p:extLst>
      <p:ext uri="{BB962C8B-B14F-4D97-AF65-F5344CB8AC3E}">
        <p14:creationId xmlns:p14="http://schemas.microsoft.com/office/powerpoint/2010/main" val="26426533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D2DD079-E4FA-C634-796A-4D3F706D87CE}"/>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258D3E2B-B15D-DFEC-119D-21135D9DE184}"/>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F12832F3-DD62-5BA1-BB86-16D1BDC87E04}"/>
              </a:ext>
            </a:extLst>
          </p:cNvPr>
          <p:cNvPicPr>
            <a:picLocks noChangeAspect="1"/>
          </p:cNvPicPr>
          <p:nvPr/>
        </p:nvPicPr>
        <p:blipFill>
          <a:blip r:embed="rId2"/>
          <a:stretch>
            <a:fillRect/>
          </a:stretch>
        </p:blipFill>
        <p:spPr>
          <a:xfrm>
            <a:off x="1335181" y="0"/>
            <a:ext cx="9380945" cy="6756666"/>
          </a:xfrm>
          <a:prstGeom prst="rect">
            <a:avLst/>
          </a:prstGeom>
        </p:spPr>
      </p:pic>
    </p:spTree>
    <p:extLst>
      <p:ext uri="{BB962C8B-B14F-4D97-AF65-F5344CB8AC3E}">
        <p14:creationId xmlns:p14="http://schemas.microsoft.com/office/powerpoint/2010/main" val="3503341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267CAF-E3F8-E423-E370-9AB6C6A3226C}"/>
              </a:ext>
            </a:extLst>
          </p:cNvPr>
          <p:cNvSpPr>
            <a:spLocks noGrp="1"/>
          </p:cNvSpPr>
          <p:nvPr>
            <p:ph type="title"/>
          </p:nvPr>
        </p:nvSpPr>
        <p:spPr/>
        <p:txBody>
          <a:bodyPr/>
          <a:lstStyle/>
          <a:p>
            <a:r>
              <a:rPr lang="fr-FR" dirty="0"/>
              <a:t>SAÉ#1 </a:t>
            </a:r>
            <a:r>
              <a:rPr lang="fr-FR" dirty="0" err="1"/>
              <a:t>Fuzzy-Quest</a:t>
            </a:r>
            <a:endParaRPr lang="fr-FR" dirty="0"/>
          </a:p>
        </p:txBody>
      </p:sp>
      <p:pic>
        <p:nvPicPr>
          <p:cNvPr id="5" name="Espace réservé du contenu 4">
            <a:extLst>
              <a:ext uri="{FF2B5EF4-FFF2-40B4-BE49-F238E27FC236}">
                <a16:creationId xmlns:a16="http://schemas.microsoft.com/office/drawing/2014/main" id="{D13C505A-59E5-EAAF-8440-D0B1D2D05D04}"/>
              </a:ext>
            </a:extLst>
          </p:cNvPr>
          <p:cNvPicPr>
            <a:picLocks noGrp="1" noChangeAspect="1"/>
          </p:cNvPicPr>
          <p:nvPr>
            <p:ph idx="1"/>
          </p:nvPr>
        </p:nvPicPr>
        <p:blipFill>
          <a:blip r:embed="rId2"/>
          <a:stretch>
            <a:fillRect/>
          </a:stretch>
        </p:blipFill>
        <p:spPr>
          <a:xfrm>
            <a:off x="838200" y="1879546"/>
            <a:ext cx="10515600" cy="4050992"/>
          </a:xfrm>
        </p:spPr>
      </p:pic>
      <p:pic>
        <p:nvPicPr>
          <p:cNvPr id="7" name="Image 6">
            <a:extLst>
              <a:ext uri="{FF2B5EF4-FFF2-40B4-BE49-F238E27FC236}">
                <a16:creationId xmlns:a16="http://schemas.microsoft.com/office/drawing/2014/main" id="{13FD8AE5-FDF8-40C3-7241-EACD163382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66521" y="287018"/>
            <a:ext cx="974558" cy="974558"/>
          </a:xfrm>
          <a:prstGeom prst="rect">
            <a:avLst/>
          </a:prstGeom>
        </p:spPr>
      </p:pic>
    </p:spTree>
    <p:extLst>
      <p:ext uri="{BB962C8B-B14F-4D97-AF65-F5344CB8AC3E}">
        <p14:creationId xmlns:p14="http://schemas.microsoft.com/office/powerpoint/2010/main" val="3698629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714EAD-3828-DB3C-CD73-B709DC018449}"/>
              </a:ext>
            </a:extLst>
          </p:cNvPr>
          <p:cNvSpPr>
            <a:spLocks noGrp="1"/>
          </p:cNvSpPr>
          <p:nvPr>
            <p:ph type="title"/>
          </p:nvPr>
        </p:nvSpPr>
        <p:spPr/>
        <p:txBody>
          <a:bodyPr/>
          <a:lstStyle/>
          <a:p>
            <a:r>
              <a:rPr lang="fr-FR" dirty="0"/>
              <a:t>Votre rôle</a:t>
            </a:r>
          </a:p>
        </p:txBody>
      </p:sp>
      <p:sp>
        <p:nvSpPr>
          <p:cNvPr id="3" name="Espace réservé du contenu 2">
            <a:extLst>
              <a:ext uri="{FF2B5EF4-FFF2-40B4-BE49-F238E27FC236}">
                <a16:creationId xmlns:a16="http://schemas.microsoft.com/office/drawing/2014/main" id="{C93F4C37-D96B-36A7-A2C2-6CE34694A601}"/>
              </a:ext>
            </a:extLst>
          </p:cNvPr>
          <p:cNvSpPr>
            <a:spLocks noGrp="1"/>
          </p:cNvSpPr>
          <p:nvPr>
            <p:ph idx="1"/>
          </p:nvPr>
        </p:nvSpPr>
        <p:spPr>
          <a:xfrm>
            <a:off x="838200" y="1690687"/>
            <a:ext cx="10515600" cy="4615221"/>
          </a:xfrm>
        </p:spPr>
        <p:txBody>
          <a:bodyPr>
            <a:noAutofit/>
          </a:bodyPr>
          <a:lstStyle/>
          <a:p>
            <a:pPr marL="0" indent="0" algn="l">
              <a:buNone/>
            </a:pPr>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Vous faites partie d’une entreprise de développement logiciel et votre équipe junior est affectée au projet FUZZY-QUEST. L’objectif du projet est de </a:t>
            </a:r>
            <a:r>
              <a:rPr lang="fr-FR" sz="1800" b="1" i="0" u="none" strike="noStrike" baseline="0" dirty="0">
                <a:latin typeface="Calibri" panose="020F0502020204030204" pitchFamily="34" charset="0"/>
                <a:ea typeface="Calibri" panose="020F0502020204030204" pitchFamily="34" charset="0"/>
                <a:cs typeface="Calibri" panose="020F0502020204030204" pitchFamily="34" charset="0"/>
              </a:rPr>
              <a:t>concevoir une application permettant la création rapide de questionnaires pour des chercheurs dans le domaine de la logique floue</a:t>
            </a:r>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 Ces chercheurs veulent utiliser ces questionnaires sur différentes populations (par exemple des étudiants) afin en premier lieu de vérifier la cohérence des questions et l’efficacité des types de logiques pour les réponses.</a:t>
            </a:r>
          </a:p>
          <a:p>
            <a:pPr marL="0" indent="0" algn="l">
              <a:buNone/>
            </a:pPr>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Un chercheur doit pouvoir :</a:t>
            </a:r>
          </a:p>
          <a:p>
            <a:pPr algn="l"/>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entrer les questions qui l’intéresse,</a:t>
            </a:r>
          </a:p>
          <a:p>
            <a:pPr algn="l"/>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entrer le type de réponses qu’il désire (échelle de valeurs, logique floue sous forme de trapèze ou de triangle,…),</a:t>
            </a:r>
          </a:p>
          <a:p>
            <a:pPr algn="l"/>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envoyer le questionnaire à la population désirée.</a:t>
            </a:r>
          </a:p>
          <a:p>
            <a:pPr marL="0" indent="0" algn="l">
              <a:buNone/>
            </a:pPr>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Une personne incluse dans la population désirée peut alors répondre aux questions. Ses réponses doivent être enregistrées dans une base de données, et le chercheur peut consulter les données collectées de manière simple.</a:t>
            </a:r>
          </a:p>
          <a:p>
            <a:pPr marL="0" indent="0" algn="l">
              <a:buNone/>
            </a:pPr>
            <a:r>
              <a:rPr lang="fr-FR" sz="1800" b="0" i="0" u="none" strike="noStrike" baseline="0" dirty="0">
                <a:latin typeface="Calibri" panose="020F0502020204030204" pitchFamily="34" charset="0"/>
                <a:ea typeface="Calibri" panose="020F0502020204030204" pitchFamily="34" charset="0"/>
                <a:cs typeface="Calibri" panose="020F0502020204030204" pitchFamily="34" charset="0"/>
              </a:rPr>
              <a:t>L’application est destinée à être remise aux commanditaires qui ont un service informatique qui pourra maintenir le logiciel (ici le LIMOS).</a:t>
            </a:r>
            <a:endParaRPr lang="fr-FR" sz="18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00969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714EAD-3828-DB3C-CD73-B709DC018449}"/>
              </a:ext>
            </a:extLst>
          </p:cNvPr>
          <p:cNvSpPr>
            <a:spLocks noGrp="1"/>
          </p:cNvSpPr>
          <p:nvPr>
            <p:ph type="title"/>
          </p:nvPr>
        </p:nvSpPr>
        <p:spPr/>
        <p:txBody>
          <a:bodyPr/>
          <a:lstStyle/>
          <a:p>
            <a:r>
              <a:rPr lang="fr-FR" dirty="0"/>
              <a:t>Organisation des structures</a:t>
            </a:r>
          </a:p>
        </p:txBody>
      </p:sp>
      <p:pic>
        <p:nvPicPr>
          <p:cNvPr id="7" name="Image 6">
            <a:extLst>
              <a:ext uri="{FF2B5EF4-FFF2-40B4-BE49-F238E27FC236}">
                <a16:creationId xmlns:a16="http://schemas.microsoft.com/office/drawing/2014/main" id="{34BB72FF-6DD3-6CE0-CEA8-CEA45777E95C}"/>
              </a:ext>
            </a:extLst>
          </p:cNvPr>
          <p:cNvPicPr>
            <a:picLocks noChangeAspect="1"/>
          </p:cNvPicPr>
          <p:nvPr/>
        </p:nvPicPr>
        <p:blipFill>
          <a:blip r:embed="rId2"/>
          <a:stretch>
            <a:fillRect/>
          </a:stretch>
        </p:blipFill>
        <p:spPr>
          <a:xfrm>
            <a:off x="1978341" y="1966345"/>
            <a:ext cx="8235318" cy="3023377"/>
          </a:xfrm>
          <a:prstGeom prst="rect">
            <a:avLst/>
          </a:prstGeom>
        </p:spPr>
      </p:pic>
    </p:spTree>
    <p:extLst>
      <p:ext uri="{BB962C8B-B14F-4D97-AF65-F5344CB8AC3E}">
        <p14:creationId xmlns:p14="http://schemas.microsoft.com/office/powerpoint/2010/main" val="26279102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714EAD-3828-DB3C-CD73-B709DC018449}"/>
              </a:ext>
            </a:extLst>
          </p:cNvPr>
          <p:cNvSpPr>
            <a:spLocks noGrp="1"/>
          </p:cNvSpPr>
          <p:nvPr>
            <p:ph type="title"/>
          </p:nvPr>
        </p:nvSpPr>
        <p:spPr/>
        <p:txBody>
          <a:bodyPr/>
          <a:lstStyle/>
          <a:p>
            <a:r>
              <a:rPr lang="fr-FR" dirty="0"/>
              <a:t>Vos missions</a:t>
            </a:r>
          </a:p>
        </p:txBody>
      </p:sp>
      <p:sp>
        <p:nvSpPr>
          <p:cNvPr id="3" name="Espace réservé du contenu 2">
            <a:extLst>
              <a:ext uri="{FF2B5EF4-FFF2-40B4-BE49-F238E27FC236}">
                <a16:creationId xmlns:a16="http://schemas.microsoft.com/office/drawing/2014/main" id="{C93F4C37-D96B-36A7-A2C2-6CE34694A601}"/>
              </a:ext>
            </a:extLst>
          </p:cNvPr>
          <p:cNvSpPr>
            <a:spLocks noGrp="1"/>
          </p:cNvSpPr>
          <p:nvPr>
            <p:ph idx="1"/>
          </p:nvPr>
        </p:nvSpPr>
        <p:spPr>
          <a:xfrm>
            <a:off x="838200" y="1420183"/>
            <a:ext cx="10515600" cy="4713198"/>
          </a:xfrm>
        </p:spPr>
        <p:txBody>
          <a:bodyPr>
            <a:noAutofit/>
          </a:bodyPr>
          <a:lstStyle/>
          <a:p>
            <a:pPr marL="0" indent="0" algn="l">
              <a:spcBef>
                <a:spcPts val="0"/>
              </a:spcBef>
              <a:buNone/>
            </a:pPr>
            <a:r>
              <a:rPr lang="fr-FR" sz="1600" b="1" i="0" u="none" strike="noStrike" baseline="0" dirty="0">
                <a:latin typeface="Calibri" panose="020F0502020204030204" pitchFamily="34" charset="0"/>
                <a:ea typeface="Calibri" panose="020F0502020204030204" pitchFamily="34" charset="0"/>
                <a:cs typeface="Calibri" panose="020F0502020204030204" pitchFamily="34" charset="0"/>
              </a:rPr>
              <a:t>1 : Étude du sujet, réalisation d’une maquette à présenter au commanditaire.</a:t>
            </a:r>
          </a:p>
          <a:p>
            <a:pPr marL="0" indent="0" algn="l">
              <a:spcBef>
                <a:spcPts val="0"/>
              </a:spcBef>
              <a:buNone/>
            </a:pPr>
            <a:r>
              <a:rPr lang="fr-FR" sz="1600" b="0" i="1" u="none" strike="noStrike" baseline="0" dirty="0">
                <a:latin typeface="Calibri" panose="020F0502020204030204" pitchFamily="34" charset="0"/>
                <a:ea typeface="Calibri" panose="020F0502020204030204" pitchFamily="34" charset="0"/>
                <a:cs typeface="Calibri" panose="020F0502020204030204" pitchFamily="34" charset="0"/>
              </a:rPr>
              <a:t>Attention à bien prendre en compte dans les contraintes la possibilité de maintenance du logiciel.</a:t>
            </a:r>
            <a:endParaRPr lang="fr-FR" sz="160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r>
              <a:rPr lang="fr-FR" sz="1600" b="0" i="0" u="none" strike="noStrike" baseline="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Évaluation : pitch devant le commanditaire et le chef de projet </a:t>
            </a:r>
            <a:r>
              <a:rPr lang="fr-FR" sz="1600" b="0" i="0" u="none" strike="noStrike" baseline="0" dirty="0">
                <a:latin typeface="Calibri" panose="020F0502020204030204" pitchFamily="34" charset="0"/>
                <a:ea typeface="Calibri" panose="020F0502020204030204" pitchFamily="34" charset="0"/>
                <a:cs typeface="Calibri" panose="020F0502020204030204" pitchFamily="34" charset="0"/>
              </a:rPr>
              <a:t>(pas plus de 8 minutes), 1 groupe toutes les 20 minutes</a:t>
            </a:r>
          </a:p>
          <a:p>
            <a:pPr marL="0" indent="0" algn="l">
              <a:spcBef>
                <a:spcPts val="0"/>
              </a:spcBef>
              <a:buNone/>
            </a:pPr>
            <a:r>
              <a:rPr lang="fr-FR" sz="1600" b="0" i="1" u="none" strike="noStrike" baseline="0" dirty="0">
                <a:latin typeface="Calibri" panose="020F0502020204030204" pitchFamily="34" charset="0"/>
                <a:ea typeface="Calibri" panose="020F0502020204030204" pitchFamily="34" charset="0"/>
                <a:cs typeface="Calibri" panose="020F0502020204030204" pitchFamily="34" charset="0"/>
              </a:rPr>
              <a:t>A la fin du pitch, le commanditaire et le chef de projet valide ou non le projet. En cas d’invalidation, un second pitch aura lieu.</a:t>
            </a:r>
            <a:endParaRPr lang="fr-FR" sz="16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r>
              <a:rPr lang="fr-FR" sz="1600" b="0" i="0" u="none" strike="noStrike" baseline="0" dirty="0">
                <a:highlight>
                  <a:srgbClr val="00FFFF"/>
                </a:highlight>
                <a:latin typeface="Calibri" panose="020F0502020204030204" pitchFamily="34" charset="0"/>
                <a:ea typeface="Calibri" panose="020F0502020204030204" pitchFamily="34" charset="0"/>
                <a:cs typeface="Calibri" panose="020F0502020204030204" pitchFamily="34" charset="0"/>
              </a:rPr>
              <a:t>Compétences impliquées : C1 et C2</a:t>
            </a:r>
          </a:p>
          <a:p>
            <a:pPr marL="0" indent="0" algn="l">
              <a:spcBef>
                <a:spcPts val="0"/>
              </a:spcBef>
              <a:buNone/>
            </a:pPr>
            <a:endParaRPr lang="fr-FR" sz="16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endParaRPr lang="fr-FR" sz="1600" b="1"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r>
              <a:rPr lang="fr-FR" sz="1600" b="1" i="0" u="none" strike="noStrike" baseline="0" dirty="0">
                <a:latin typeface="Calibri" panose="020F0502020204030204" pitchFamily="34" charset="0"/>
                <a:ea typeface="Calibri" panose="020F0502020204030204" pitchFamily="34" charset="0"/>
                <a:cs typeface="Calibri" panose="020F0502020204030204" pitchFamily="34" charset="0"/>
              </a:rPr>
              <a:t>2 : Développement de l’application</a:t>
            </a:r>
          </a:p>
          <a:p>
            <a:pPr marL="0" indent="0" algn="l">
              <a:spcBef>
                <a:spcPts val="0"/>
              </a:spcBef>
              <a:buNone/>
            </a:pPr>
            <a:r>
              <a:rPr lang="fr-FR" sz="1600" b="0" i="0" u="none" strike="noStrike" baseline="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Rendus intermédiaires : dépôt d’un diagramme de Gantt et de l’organisation interne de l’équipe.</a:t>
            </a:r>
          </a:p>
          <a:p>
            <a:pPr marL="0" indent="0" algn="l">
              <a:spcBef>
                <a:spcPts val="0"/>
              </a:spcBef>
              <a:buNone/>
            </a:pPr>
            <a:r>
              <a:rPr lang="fr-FR" sz="1600" i="1" dirty="0">
                <a:latin typeface="Calibri" panose="020F0502020204030204" pitchFamily="34" charset="0"/>
                <a:ea typeface="Calibri" panose="020F0502020204030204" pitchFamily="34" charset="0"/>
                <a:cs typeface="Calibri" panose="020F0502020204030204" pitchFamily="34" charset="0"/>
              </a:rPr>
              <a:t>C</a:t>
            </a:r>
            <a:r>
              <a:rPr lang="fr-FR" sz="1600" b="0" i="1" u="none" strike="noStrike" baseline="0" dirty="0">
                <a:latin typeface="Calibri" panose="020F0502020204030204" pitchFamily="34" charset="0"/>
                <a:ea typeface="Calibri" panose="020F0502020204030204" pitchFamily="34" charset="0"/>
                <a:cs typeface="Calibri" panose="020F0502020204030204" pitchFamily="34" charset="0"/>
              </a:rPr>
              <a:t>haque groupe doit s’inscrire sur des créneaux de réunion avec commanditaire et chef de projet. Il doit y avoir à minima 2 réunions de 10 minutes des présentations informelles et des échanges. Un </a:t>
            </a:r>
            <a:r>
              <a:rPr lang="fr-FR" sz="1600" b="0" i="1" u="none" strike="noStrike" baseline="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compte-rendu est demandé à la fin de chaque rencontre</a:t>
            </a:r>
            <a:r>
              <a:rPr lang="fr-FR" sz="1600" b="0" i="1" u="none" strike="noStrike" baseline="0" dirty="0">
                <a:latin typeface="Calibri" panose="020F0502020204030204" pitchFamily="34" charset="0"/>
                <a:ea typeface="Calibri" panose="020F0502020204030204" pitchFamily="34" charset="0"/>
                <a:cs typeface="Calibri" panose="020F0502020204030204" pitchFamily="34" charset="0"/>
              </a:rPr>
              <a:t>, afin de vérifier que tous les intervenants (équipe de projet, chef de projet et commanditaire) se sont bien compris.</a:t>
            </a:r>
            <a:endParaRPr lang="fr-FR" sz="16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r>
              <a:rPr lang="fr-FR" sz="1600" b="0" i="0" u="none" strike="noStrike" baseline="0" dirty="0">
                <a:highlight>
                  <a:srgbClr val="00FFFF"/>
                </a:highlight>
                <a:latin typeface="Calibri" panose="020F0502020204030204" pitchFamily="34" charset="0"/>
                <a:ea typeface="Calibri" panose="020F0502020204030204" pitchFamily="34" charset="0"/>
                <a:cs typeface="Calibri" panose="020F0502020204030204" pitchFamily="34" charset="0"/>
              </a:rPr>
              <a:t>Compétences impliquées : C3 et C4</a:t>
            </a:r>
          </a:p>
          <a:p>
            <a:pPr marL="0" indent="0" algn="l">
              <a:spcBef>
                <a:spcPts val="0"/>
              </a:spcBef>
              <a:buNone/>
            </a:pPr>
            <a:endParaRPr lang="fr-FR" sz="16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endParaRPr lang="fr-FR" sz="1600" b="1" i="0" u="none" strike="noStrike" baseline="0" dirty="0">
              <a:latin typeface="Calibri" panose="020F0502020204030204" pitchFamily="34" charset="0"/>
              <a:ea typeface="Calibri" panose="020F0502020204030204" pitchFamily="34" charset="0"/>
              <a:cs typeface="Calibri" panose="020F0502020204030204" pitchFamily="34" charset="0"/>
            </a:endParaRPr>
          </a:p>
          <a:p>
            <a:pPr marL="0" indent="0" algn="l">
              <a:spcBef>
                <a:spcPts val="0"/>
              </a:spcBef>
              <a:buNone/>
            </a:pPr>
            <a:r>
              <a:rPr lang="fr-FR" sz="1600" b="1" i="0" u="none" strike="noStrike" baseline="0" dirty="0">
                <a:latin typeface="Calibri" panose="020F0502020204030204" pitchFamily="34" charset="0"/>
                <a:ea typeface="Calibri" panose="020F0502020204030204" pitchFamily="34" charset="0"/>
                <a:cs typeface="Calibri" panose="020F0502020204030204" pitchFamily="34" charset="0"/>
              </a:rPr>
              <a:t>3 : Développement de tests, collecte et analyse de données.</a:t>
            </a:r>
          </a:p>
          <a:p>
            <a:pPr marL="0" indent="0" algn="l">
              <a:spcBef>
                <a:spcPts val="0"/>
              </a:spcBef>
              <a:buNone/>
            </a:pPr>
            <a:r>
              <a:rPr lang="fr-FR" sz="1600" b="0" i="0" u="none" strike="noStrike" baseline="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Rendu intermédiaire : réunion pour valider les tests.</a:t>
            </a:r>
          </a:p>
          <a:p>
            <a:pPr marL="0" indent="0" algn="l">
              <a:spcBef>
                <a:spcPts val="0"/>
              </a:spcBef>
              <a:buNone/>
            </a:pPr>
            <a:r>
              <a:rPr lang="fr-FR" sz="1600" b="0" i="0" u="none" strike="noStrike" baseline="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rPr>
              <a:t>Évaluation : démonstrateur vidéo de l’application, documentation technique au commanditaire, et questions rétrospectives sur le code.</a:t>
            </a:r>
          </a:p>
          <a:p>
            <a:pPr marL="0" indent="0">
              <a:spcBef>
                <a:spcPts val="0"/>
              </a:spcBef>
              <a:buNone/>
            </a:pPr>
            <a:r>
              <a:rPr lang="fr-FR" sz="1600" b="0" i="0" u="none" strike="noStrike" baseline="0">
                <a:highlight>
                  <a:srgbClr val="00FFFF"/>
                </a:highlight>
                <a:latin typeface="Calibri" panose="020F0502020204030204" pitchFamily="34" charset="0"/>
                <a:ea typeface="Calibri" panose="020F0502020204030204" pitchFamily="34" charset="0"/>
                <a:cs typeface="Calibri" panose="020F0502020204030204" pitchFamily="34" charset="0"/>
              </a:rPr>
              <a:t>Compétences impliquées </a:t>
            </a:r>
            <a:r>
              <a:rPr lang="fr-FR" sz="1600" b="0" i="0" u="none" strike="noStrike" baseline="0" dirty="0">
                <a:highlight>
                  <a:srgbClr val="00FFFF"/>
                </a:highlight>
                <a:latin typeface="Calibri" panose="020F0502020204030204" pitchFamily="34" charset="0"/>
                <a:ea typeface="Calibri" panose="020F0502020204030204" pitchFamily="34" charset="0"/>
                <a:cs typeface="Calibri" panose="020F0502020204030204" pitchFamily="34" charset="0"/>
              </a:rPr>
              <a:t>: C3 et C4</a:t>
            </a:r>
          </a:p>
          <a:p>
            <a:pPr marL="0" indent="0" algn="l">
              <a:spcBef>
                <a:spcPts val="0"/>
              </a:spcBef>
              <a:buNone/>
            </a:pPr>
            <a:endParaRPr lang="fr-FR" sz="1400" dirty="0">
              <a:solidFill>
                <a:schemeClr val="tx2">
                  <a:lumMod val="75000"/>
                  <a:lumOff val="25000"/>
                </a:schemeClr>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33336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F3DFC6E-2F2B-F2E2-4925-2E731D2C02EC}"/>
              </a:ext>
            </a:extLst>
          </p:cNvPr>
          <p:cNvSpPr>
            <a:spLocks noGrp="1"/>
          </p:cNvSpPr>
          <p:nvPr>
            <p:ph type="title"/>
          </p:nvPr>
        </p:nvSpPr>
        <p:spPr>
          <a:xfrm>
            <a:off x="838200" y="18255"/>
            <a:ext cx="10515600" cy="1325563"/>
          </a:xfrm>
        </p:spPr>
        <p:txBody>
          <a:bodyPr/>
          <a:lstStyle/>
          <a:p>
            <a:r>
              <a:rPr lang="fr-FR" dirty="0"/>
              <a:t>La grille d’évaluation de la SAÉ </a:t>
            </a:r>
            <a:r>
              <a:rPr lang="fr-FR" dirty="0" err="1"/>
              <a:t>Fuzzy-Quest</a:t>
            </a:r>
            <a:endParaRPr lang="fr-FR" dirty="0"/>
          </a:p>
        </p:txBody>
      </p:sp>
      <p:sp>
        <p:nvSpPr>
          <p:cNvPr id="3" name="Espace réservé du contenu 2">
            <a:extLst>
              <a:ext uri="{FF2B5EF4-FFF2-40B4-BE49-F238E27FC236}">
                <a16:creationId xmlns:a16="http://schemas.microsoft.com/office/drawing/2014/main" id="{474D0272-2F40-FCE4-F67B-A8D961C265BE}"/>
              </a:ext>
            </a:extLst>
          </p:cNvPr>
          <p:cNvSpPr>
            <a:spLocks noGrp="1"/>
          </p:cNvSpPr>
          <p:nvPr>
            <p:ph idx="1"/>
          </p:nvPr>
        </p:nvSpPr>
        <p:spPr/>
        <p:txBody>
          <a:bodyPr/>
          <a:lstStyle/>
          <a:p>
            <a:endParaRPr lang="fr-FR"/>
          </a:p>
        </p:txBody>
      </p:sp>
      <p:pic>
        <p:nvPicPr>
          <p:cNvPr id="7" name="Image 6">
            <a:extLst>
              <a:ext uri="{FF2B5EF4-FFF2-40B4-BE49-F238E27FC236}">
                <a16:creationId xmlns:a16="http://schemas.microsoft.com/office/drawing/2014/main" id="{C82D5E14-FDE7-2979-6263-B725169467DF}"/>
              </a:ext>
            </a:extLst>
          </p:cNvPr>
          <p:cNvPicPr>
            <a:picLocks noChangeAspect="1"/>
          </p:cNvPicPr>
          <p:nvPr/>
        </p:nvPicPr>
        <p:blipFill>
          <a:blip r:embed="rId2"/>
          <a:stretch>
            <a:fillRect/>
          </a:stretch>
        </p:blipFill>
        <p:spPr>
          <a:xfrm>
            <a:off x="1051866" y="1690688"/>
            <a:ext cx="9196704" cy="4980638"/>
          </a:xfrm>
          <a:prstGeom prst="rect">
            <a:avLst/>
          </a:prstGeom>
        </p:spPr>
      </p:pic>
      <p:pic>
        <p:nvPicPr>
          <p:cNvPr id="9" name="Image 8">
            <a:extLst>
              <a:ext uri="{FF2B5EF4-FFF2-40B4-BE49-F238E27FC236}">
                <a16:creationId xmlns:a16="http://schemas.microsoft.com/office/drawing/2014/main" id="{42652EFA-8B5B-DFED-A298-A302A7F0CE3E}"/>
              </a:ext>
            </a:extLst>
          </p:cNvPr>
          <p:cNvPicPr>
            <a:picLocks noChangeAspect="1"/>
          </p:cNvPicPr>
          <p:nvPr/>
        </p:nvPicPr>
        <p:blipFill>
          <a:blip r:embed="rId3"/>
          <a:stretch>
            <a:fillRect/>
          </a:stretch>
        </p:blipFill>
        <p:spPr>
          <a:xfrm>
            <a:off x="203965" y="1097867"/>
            <a:ext cx="11784070" cy="466790"/>
          </a:xfrm>
          <a:prstGeom prst="rect">
            <a:avLst/>
          </a:prstGeom>
        </p:spPr>
      </p:pic>
    </p:spTree>
    <p:extLst>
      <p:ext uri="{BB962C8B-B14F-4D97-AF65-F5344CB8AC3E}">
        <p14:creationId xmlns:p14="http://schemas.microsoft.com/office/powerpoint/2010/main" val="2609993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E8257B-874E-051C-C1BB-7EF432EC4B6F}"/>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F1D8C27B-6CA5-6197-6E5B-8B97CC5A1A9D}"/>
              </a:ext>
            </a:extLst>
          </p:cNvPr>
          <p:cNvSpPr>
            <a:spLocks noGrp="1"/>
          </p:cNvSpPr>
          <p:nvPr>
            <p:ph idx="1"/>
          </p:nvPr>
        </p:nvSpPr>
        <p:spPr/>
        <p:txBody>
          <a:bodyPr/>
          <a:lstStyle/>
          <a:p>
            <a:endParaRPr lang="fr-FR"/>
          </a:p>
        </p:txBody>
      </p:sp>
      <p:pic>
        <p:nvPicPr>
          <p:cNvPr id="5" name="Image 4">
            <a:extLst>
              <a:ext uri="{FF2B5EF4-FFF2-40B4-BE49-F238E27FC236}">
                <a16:creationId xmlns:a16="http://schemas.microsoft.com/office/drawing/2014/main" id="{C42754ED-85D5-FEB0-0D4B-7019FD3022B8}"/>
              </a:ext>
            </a:extLst>
          </p:cNvPr>
          <p:cNvPicPr>
            <a:picLocks noChangeAspect="1"/>
          </p:cNvPicPr>
          <p:nvPr/>
        </p:nvPicPr>
        <p:blipFill>
          <a:blip r:embed="rId2"/>
          <a:stretch>
            <a:fillRect/>
          </a:stretch>
        </p:blipFill>
        <p:spPr>
          <a:xfrm>
            <a:off x="838200" y="956079"/>
            <a:ext cx="10455646" cy="5536796"/>
          </a:xfrm>
          <a:prstGeom prst="rect">
            <a:avLst/>
          </a:prstGeom>
        </p:spPr>
      </p:pic>
      <p:pic>
        <p:nvPicPr>
          <p:cNvPr id="7" name="Image 6">
            <a:extLst>
              <a:ext uri="{FF2B5EF4-FFF2-40B4-BE49-F238E27FC236}">
                <a16:creationId xmlns:a16="http://schemas.microsoft.com/office/drawing/2014/main" id="{F1EC02A6-5674-529B-3502-F3A8673F498A}"/>
              </a:ext>
            </a:extLst>
          </p:cNvPr>
          <p:cNvPicPr>
            <a:picLocks noChangeAspect="1"/>
          </p:cNvPicPr>
          <p:nvPr/>
        </p:nvPicPr>
        <p:blipFill>
          <a:blip r:embed="rId3"/>
          <a:stretch>
            <a:fillRect/>
          </a:stretch>
        </p:blipFill>
        <p:spPr>
          <a:xfrm>
            <a:off x="203965" y="354352"/>
            <a:ext cx="11784070" cy="466790"/>
          </a:xfrm>
          <a:prstGeom prst="rect">
            <a:avLst/>
          </a:prstGeom>
        </p:spPr>
      </p:pic>
    </p:spTree>
    <p:extLst>
      <p:ext uri="{BB962C8B-B14F-4D97-AF65-F5344CB8AC3E}">
        <p14:creationId xmlns:p14="http://schemas.microsoft.com/office/powerpoint/2010/main" val="650048995"/>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56</TotalTime>
  <Words>451</Words>
  <Application>Microsoft Office PowerPoint</Application>
  <PresentationFormat>Grand écran</PresentationFormat>
  <Paragraphs>34</Paragraphs>
  <Slides>15</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15</vt:i4>
      </vt:variant>
    </vt:vector>
  </HeadingPairs>
  <TitlesOfParts>
    <vt:vector size="20" baseType="lpstr">
      <vt:lpstr>Aptos</vt:lpstr>
      <vt:lpstr>Aptos Display</vt:lpstr>
      <vt:lpstr>Arial</vt:lpstr>
      <vt:lpstr>Calibri</vt:lpstr>
      <vt:lpstr>Thème Office</vt:lpstr>
      <vt:lpstr>Approche Par Compétences SAÉ Fuzzy-Quest ZZ2</vt:lpstr>
      <vt:lpstr>Selon vous, quelle est la caractéristique d’une personne compétente ?</vt:lpstr>
      <vt:lpstr>Présentation PowerPoint</vt:lpstr>
      <vt:lpstr>Présentation PowerPoint</vt:lpstr>
      <vt:lpstr>Référentiel de compétences ISIMA</vt:lpstr>
      <vt:lpstr>Présentation PowerPoint</vt:lpstr>
      <vt:lpstr>Présentation PowerPoint</vt:lpstr>
      <vt:lpstr>Présentation PowerPoint</vt:lpstr>
      <vt:lpstr>Présentation PowerPoint</vt:lpstr>
      <vt:lpstr>SAÉ#1 Fuzzy-Quest</vt:lpstr>
      <vt:lpstr>Votre rôle</vt:lpstr>
      <vt:lpstr>Organisation des structures</vt:lpstr>
      <vt:lpstr>Vos missions</vt:lpstr>
      <vt:lpstr>La grille d’évaluation de la SAÉ Fuzzy-Quest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Chloe SAGNET</dc:creator>
  <cp:lastModifiedBy>Chloe SAGNET</cp:lastModifiedBy>
  <cp:revision>1</cp:revision>
  <dcterms:created xsi:type="dcterms:W3CDTF">2026-09-08T07:29:22Z</dcterms:created>
  <dcterms:modified xsi:type="dcterms:W3CDTF">2026-09-08T08:32:43Z</dcterms:modified>
</cp:coreProperties>
</file>